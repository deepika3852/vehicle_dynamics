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DM Serif Display" pitchFamily="2" charset="0"/>
      <p:regular r:id="rId20"/>
    </p:embeddedFont>
    <p:embeddedFont>
      <p:font typeface="Open Sauce" panose="020B0604020202020204" charset="0"/>
      <p:regular r:id="rId21"/>
    </p:embeddedFont>
    <p:embeddedFont>
      <p:font typeface="Open Sauce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file/d/1tLqO5NefZr00L9HyUYItyZSDnxJa9833/view?usp=drivesdk" TargetMode="Externa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9484425" cy="10287000"/>
          </a:xfrm>
          <a:custGeom>
            <a:avLst/>
            <a:gdLst/>
            <a:ahLst/>
            <a:cxnLst/>
            <a:rect l="l" t="t" r="r" b="b"/>
            <a:pathLst>
              <a:path w="9484425" h="10287000">
                <a:moveTo>
                  <a:pt x="0" y="0"/>
                </a:moveTo>
                <a:lnTo>
                  <a:pt x="9484425" y="0"/>
                </a:lnTo>
                <a:lnTo>
                  <a:pt x="94844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05" r="-52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100141" y="2255629"/>
            <a:ext cx="7774875" cy="4962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9"/>
              </a:lnSpc>
            </a:pPr>
            <a:r>
              <a:rPr lang="en-US" sz="7063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Dynamic Analysis ​of Suspension System​</a:t>
            </a:r>
          </a:p>
          <a:p>
            <a:pPr algn="ctr">
              <a:lnSpc>
                <a:spcPts val="9889"/>
              </a:lnSpc>
            </a:pPr>
            <a:r>
              <a:rPr lang="en-US" sz="7063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of An Electric Bus</a:t>
            </a:r>
            <a:r>
              <a:rPr lang="en-US" sz="7063">
                <a:solidFill>
                  <a:srgbClr val="EFEF0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174577" y="2509529"/>
            <a:ext cx="830787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</a:t>
            </a: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ynamic analysis ensures optimal ride comfort, stability, and safety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20205" y="2673662"/>
            <a:ext cx="909958" cy="90995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0680" y="2774631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4577" y="4214812"/>
            <a:ext cx="8307875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Susp</a:t>
            </a: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ension systems are vital for vehicle safety, comfort, and performance, especially with heavy battery packs and unique chassis designs.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10680" y="4090025"/>
            <a:ext cx="909958" cy="90995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47622" y="4178609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4577" y="6250605"/>
            <a:ext cx="830787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 helps evaluate ride quality and design of springs, dampers, and actuators.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829730" y="6388400"/>
            <a:ext cx="909958" cy="9099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76197" y="6485864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398" y="1083622"/>
            <a:ext cx="6468931" cy="110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166399" y="65927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174577" y="7668569"/>
            <a:ext cx="8307875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Susp</a:t>
            </a: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ension isolates the bus body from road irregularities and transmits steering and braking loads.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847622" y="7825414"/>
            <a:ext cx="909958" cy="90995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894090" y="7922878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634642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1946543"/>
            <a:ext cx="6138511" cy="7469237"/>
          </a:xfrm>
          <a:custGeom>
            <a:avLst/>
            <a:gdLst/>
            <a:ahLst/>
            <a:cxnLst/>
            <a:rect l="l" t="t" r="r" b="b"/>
            <a:pathLst>
              <a:path w="6138511" h="7469237">
                <a:moveTo>
                  <a:pt x="0" y="0"/>
                </a:moveTo>
                <a:lnTo>
                  <a:pt x="6138511" y="0"/>
                </a:lnTo>
                <a:lnTo>
                  <a:pt x="6138511" y="7469237"/>
                </a:lnTo>
                <a:lnTo>
                  <a:pt x="0" y="7469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852139" y="1946543"/>
            <a:ext cx="8569753" cy="7469237"/>
          </a:xfrm>
          <a:custGeom>
            <a:avLst/>
            <a:gdLst/>
            <a:ahLst/>
            <a:cxnLst/>
            <a:rect l="l" t="t" r="r" b="b"/>
            <a:pathLst>
              <a:path w="8569753" h="7469237">
                <a:moveTo>
                  <a:pt x="0" y="0"/>
                </a:moveTo>
                <a:lnTo>
                  <a:pt x="8569753" y="0"/>
                </a:lnTo>
                <a:lnTo>
                  <a:pt x="8569753" y="7469237"/>
                </a:lnTo>
                <a:lnTo>
                  <a:pt x="0" y="7469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338" r="-253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6399" y="780687"/>
            <a:ext cx="13918329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PHYSICAL MODEL DEVELOPMENT​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82425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252875"/>
            <a:ext cx="733755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COMPONENETS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68995"/>
            <a:ext cx="7337558" cy="720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u="sng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Spru</a:t>
            </a:r>
            <a:r>
              <a:rPr lang="en-US" sz="2400" u="sng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ng Mass Components:​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Vehicle Body: Chassis frame, battery pack, passenger cabin​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Powertrain: Electric motor, transmission, power electronics​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Payload: Passengers, driver, interior equipment​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Total Sprung Mass (Ms): 9,000 – 13,000 kg (for 12m electric bus)​</a:t>
            </a:r>
          </a:p>
          <a:p>
            <a:pPr algn="l">
              <a:lnSpc>
                <a:spcPts val="3840"/>
              </a:lnSpc>
            </a:pPr>
            <a:endParaRPr lang="en-US" sz="2400" u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3840"/>
              </a:lnSpc>
            </a:pPr>
            <a:r>
              <a:rPr lang="en-US" sz="2400" u="sng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Unsprung Mass Components:​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Axle assembly, wheel hub, brake assembly​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Wheel &amp; Tire (rim + tire)​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Suspension mounts (lower control arm, knuckle)​</a:t>
            </a:r>
          </a:p>
          <a:p>
            <a:pPr marL="518241" lvl="1" indent="-259120" algn="l">
              <a:lnSpc>
                <a:spcPts val="3840"/>
              </a:lnSpc>
              <a:buFont typeface="Arial"/>
              <a:buChar char="•"/>
            </a:pPr>
            <a:r>
              <a:rPr lang="en-US" sz="24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Total Unsprung Mass (Mu): 250 – 400 kg per wheel​</a:t>
            </a:r>
          </a:p>
          <a:p>
            <a:pPr algn="l">
              <a:lnSpc>
                <a:spcPts val="3360"/>
              </a:lnSpc>
            </a:pPr>
            <a:endParaRPr lang="en-US" sz="2400" u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2468995"/>
            <a:ext cx="6678981" cy="768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u="sng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Primary Spr</a:t>
            </a:r>
            <a:r>
              <a:rPr lang="en-US" sz="2399" u="sng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ing</a:t>
            </a: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: Air suspension bellows or coil spring​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Stiffness: 300,000 – 665,000 N/m​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Natural frequency: 1 – 2 Hz​</a:t>
            </a:r>
          </a:p>
          <a:p>
            <a:pPr algn="l">
              <a:lnSpc>
                <a:spcPts val="3839"/>
              </a:lnSpc>
            </a:pPr>
            <a:endParaRPr lang="en-US" sz="2399" u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3839"/>
              </a:lnSpc>
            </a:pPr>
            <a:r>
              <a:rPr lang="en-US" sz="2399" u="sng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Damper (Shock Absorber)</a:t>
            </a: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: Hydraulic or magnetorheological​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Damping coefficient: 12,000 – 50,000 Ns/m​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Damping ratio: 0.2 – 0.4</a:t>
            </a:r>
          </a:p>
          <a:p>
            <a:pPr algn="l">
              <a:lnSpc>
                <a:spcPts val="3839"/>
              </a:lnSpc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​</a:t>
            </a:r>
          </a:p>
          <a:p>
            <a:pPr algn="l">
              <a:lnSpc>
                <a:spcPts val="3839"/>
              </a:lnSpc>
            </a:pPr>
            <a:r>
              <a:rPr lang="en-US" sz="2399" u="sng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Tire Characteristics​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Tire stiffness Kt = 500,000 – 1,000,000 N/m​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Tire damping Ct ≈ 10–15% of suspension damping​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Tire sizes 245/75 R16 to 275/70 R22.5​</a:t>
            </a:r>
          </a:p>
          <a:p>
            <a:pPr algn="l">
              <a:lnSpc>
                <a:spcPts val="3360"/>
              </a:lnSpc>
            </a:pPr>
            <a:endParaRPr lang="en-US" sz="2399" u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0" y="1252875"/>
            <a:ext cx="935495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SUSPENSION ELEMENTS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829881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SYSTEM BEHAVIOUR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6399" y="2486045"/>
            <a:ext cx="890897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Suspension acts as multi-stage vibration isolation: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326975" y="3570476"/>
          <a:ext cx="15634050" cy="4291532"/>
        </p:xfrm>
        <a:graphic>
          <a:graphicData uri="http://schemas.openxmlformats.org/drawingml/2006/table">
            <a:tbl>
              <a:tblPr/>
              <a:tblGrid>
                <a:gridCol w="582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FUNCTION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Tire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First isolation from road irregularities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Suspension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Main isolation between sprung &amp; unsprung masses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Load path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Road → Tire → Unsprung mass → Suspension → Sprung mass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166399" y="3254395"/>
          <a:ext cx="14648318" cy="6659777"/>
        </p:xfrm>
        <a:graphic>
          <a:graphicData uri="http://schemas.openxmlformats.org/drawingml/2006/table">
            <a:tbl>
              <a:tblPr/>
              <a:tblGrid>
                <a:gridCol w="3882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875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Symbol and units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78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Sprung mass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Ms (kg)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1/4 vehicle body mass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24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Unsprung mass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Mu (kg)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Wheel + hub assembly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24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Suspension spring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Ks (N/m)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Suspension stiffness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24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Suspension Damper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Cs (Ns/m)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Suspension damping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724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Tire spring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Kt (N/m)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Tire stiffness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724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Tire Damping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Ct (Ns/m)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Tire damping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166399" y="1233825"/>
            <a:ext cx="1250472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Simplified Model Development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399" y="2416194"/>
            <a:ext cx="5821158" cy="552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</a:t>
            </a: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presents one corner of vehicle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018077" y="1368242"/>
            <a:ext cx="8449152" cy="8581472"/>
          </a:xfrm>
          <a:custGeom>
            <a:avLst/>
            <a:gdLst/>
            <a:ahLst/>
            <a:cxnLst/>
            <a:rect l="l" t="t" r="r" b="b"/>
            <a:pathLst>
              <a:path w="8449152" h="8581472">
                <a:moveTo>
                  <a:pt x="0" y="0"/>
                </a:moveTo>
                <a:lnTo>
                  <a:pt x="8449152" y="0"/>
                </a:lnTo>
                <a:lnTo>
                  <a:pt x="8449152" y="8581471"/>
                </a:lnTo>
                <a:lnTo>
                  <a:pt x="0" y="858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92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6399" y="1253942"/>
            <a:ext cx="684033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Motion Variables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53329"/>
            <a:ext cx="6174636" cy="5271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2"/>
              </a:lnSpc>
            </a:pPr>
            <a:endParaRPr/>
          </a:p>
          <a:p>
            <a:pPr marL="630479" lvl="1" indent="-315240" algn="l">
              <a:lnSpc>
                <a:spcPts val="4672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Displaceme</a:t>
            </a: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nts: Zs(t), Zu(t), Zr(t)​</a:t>
            </a:r>
          </a:p>
          <a:p>
            <a:pPr marL="630479" lvl="1" indent="-315240" algn="l">
              <a:lnSpc>
                <a:spcPts val="4672"/>
              </a:lnSpc>
              <a:buFont typeface="Arial"/>
              <a:buChar char="•"/>
            </a:pP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Velocities : Żs(t), Żu(t)​</a:t>
            </a:r>
          </a:p>
          <a:p>
            <a:pPr marL="630479" lvl="1" indent="-315240" algn="l">
              <a:lnSpc>
                <a:spcPts val="4672"/>
              </a:lnSpc>
              <a:buFont typeface="Arial"/>
              <a:buChar char="•"/>
            </a:pP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Accelerations: Z̈s(t), Zu(t)</a:t>
            </a:r>
          </a:p>
          <a:p>
            <a:pPr algn="l">
              <a:lnSpc>
                <a:spcPts val="4672"/>
              </a:lnSpc>
            </a:pP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 Where:​</a:t>
            </a:r>
          </a:p>
          <a:p>
            <a:pPr marL="630479" lvl="1" indent="-315240" algn="l">
              <a:lnSpc>
                <a:spcPts val="4672"/>
              </a:lnSpc>
              <a:buFont typeface="Arial"/>
              <a:buChar char="•"/>
            </a:pP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Zs = sprung mass displacement​</a:t>
            </a:r>
          </a:p>
          <a:p>
            <a:pPr marL="630479" lvl="1" indent="-315240" algn="l">
              <a:lnSpc>
                <a:spcPts val="4672"/>
              </a:lnSpc>
              <a:buFont typeface="Arial"/>
              <a:buChar char="•"/>
            </a:pP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Zu = unsprung mass displacement​</a:t>
            </a:r>
          </a:p>
          <a:p>
            <a:pPr marL="630479" lvl="1" indent="-315240" algn="l">
              <a:lnSpc>
                <a:spcPts val="4672"/>
              </a:lnSpc>
              <a:buFont typeface="Arial"/>
              <a:buChar char="•"/>
            </a:pPr>
            <a:r>
              <a:rPr lang="en-US" sz="292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Zr = road input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731959" y="4730820"/>
            <a:ext cx="3436062" cy="1388635"/>
          </a:xfrm>
          <a:custGeom>
            <a:avLst/>
            <a:gdLst/>
            <a:ahLst/>
            <a:cxnLst/>
            <a:rect l="l" t="t" r="r" b="b"/>
            <a:pathLst>
              <a:path w="3436062" h="1388635">
                <a:moveTo>
                  <a:pt x="0" y="0"/>
                </a:moveTo>
                <a:lnTo>
                  <a:pt x="3436061" y="0"/>
                </a:lnTo>
                <a:lnTo>
                  <a:pt x="3436061" y="1388635"/>
                </a:lnTo>
                <a:lnTo>
                  <a:pt x="0" y="1388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573" b="-85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4451" y="4730820"/>
            <a:ext cx="3145769" cy="1388635"/>
          </a:xfrm>
          <a:custGeom>
            <a:avLst/>
            <a:gdLst/>
            <a:ahLst/>
            <a:cxnLst/>
            <a:rect l="l" t="t" r="r" b="b"/>
            <a:pathLst>
              <a:path w="3145769" h="1388635">
                <a:moveTo>
                  <a:pt x="0" y="0"/>
                </a:moveTo>
                <a:lnTo>
                  <a:pt x="3145769" y="0"/>
                </a:lnTo>
                <a:lnTo>
                  <a:pt x="3145769" y="1388635"/>
                </a:lnTo>
                <a:lnTo>
                  <a:pt x="0" y="1388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6" t="-10610" r="-6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178637" y="4730820"/>
            <a:ext cx="2984977" cy="1295443"/>
          </a:xfrm>
          <a:custGeom>
            <a:avLst/>
            <a:gdLst/>
            <a:ahLst/>
            <a:cxnLst/>
            <a:rect l="l" t="t" r="r" b="b"/>
            <a:pathLst>
              <a:path w="2984977" h="1295443">
                <a:moveTo>
                  <a:pt x="0" y="0"/>
                </a:moveTo>
                <a:lnTo>
                  <a:pt x="2984977" y="0"/>
                </a:lnTo>
                <a:lnTo>
                  <a:pt x="2984977" y="1295443"/>
                </a:lnTo>
                <a:lnTo>
                  <a:pt x="0" y="1295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902" b="-69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66399" y="1233825"/>
            <a:ext cx="1512971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Natural Frequencies and Damping Ratios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0443" y="6071741"/>
            <a:ext cx="4843133" cy="299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endParaRPr/>
          </a:p>
          <a:p>
            <a:pPr marL="539746" lvl="1" indent="-269873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For passenger comfort, fs should be in the range of 1.0 - 2.0 Hz.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31959" y="3380125"/>
            <a:ext cx="4764758" cy="153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5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Unsprung Mass Natural Freq</a:t>
            </a:r>
            <a:r>
              <a:rPr lang="en-US" sz="2599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uency:</a:t>
            </a:r>
          </a:p>
          <a:p>
            <a:pPr marL="0" lvl="0" indent="0" algn="l">
              <a:lnSpc>
                <a:spcPts val="4159"/>
              </a:lnSpc>
              <a:spcBef>
                <a:spcPct val="0"/>
              </a:spcBef>
            </a:pPr>
            <a:endParaRPr lang="en-US" sz="2599" b="1" u="none" strike="noStrike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23201" y="6576566"/>
            <a:ext cx="4843133" cy="97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Typically</a:t>
            </a:r>
            <a:r>
              <a:rPr lang="en-US" sz="24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, fu is in the range of 10 - 15 Hz.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87994" y="3380125"/>
            <a:ext cx="4833608" cy="101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5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Dam</a:t>
            </a:r>
            <a:r>
              <a:rPr lang="en-US" sz="2599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ping Ratio:</a:t>
            </a:r>
          </a:p>
          <a:p>
            <a:pPr marL="0" lvl="0" indent="0" algn="l">
              <a:lnSpc>
                <a:spcPts val="4159"/>
              </a:lnSpc>
              <a:spcBef>
                <a:spcPct val="0"/>
              </a:spcBef>
            </a:pPr>
            <a:endParaRPr lang="en-US" sz="2599" b="1" u="none" strike="noStrike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017701" y="6513066"/>
            <a:ext cx="4843133" cy="1987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Optimal d</a:t>
            </a:r>
            <a:r>
              <a:rPr lang="en-US" sz="24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amping ratio for passenger vehicles: ζ = 0.2 - 0.4</a:t>
            </a:r>
          </a:p>
          <a:p>
            <a:pPr algn="l">
              <a:lnSpc>
                <a:spcPts val="3999"/>
              </a:lnSpc>
            </a:pPr>
            <a:endParaRPr lang="en-US" sz="2499" u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74451" y="3380125"/>
            <a:ext cx="5175596" cy="101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5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Sprung Mass Natural Frequency: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66399" y="2134890"/>
            <a:ext cx="11499989" cy="4360689"/>
          </a:xfrm>
          <a:custGeom>
            <a:avLst/>
            <a:gdLst/>
            <a:ahLst/>
            <a:cxnLst/>
            <a:rect l="l" t="t" r="r" b="b"/>
            <a:pathLst>
              <a:path w="11499989" h="4360689">
                <a:moveTo>
                  <a:pt x="0" y="0"/>
                </a:moveTo>
                <a:lnTo>
                  <a:pt x="11499988" y="0"/>
                </a:lnTo>
                <a:lnTo>
                  <a:pt x="11499988" y="4360689"/>
                </a:lnTo>
                <a:lnTo>
                  <a:pt x="0" y="436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66399" y="7795323"/>
            <a:ext cx="3423473" cy="1125736"/>
          </a:xfrm>
          <a:custGeom>
            <a:avLst/>
            <a:gdLst/>
            <a:ahLst/>
            <a:cxnLst/>
            <a:rect l="l" t="t" r="r" b="b"/>
            <a:pathLst>
              <a:path w="3423473" h="1125736">
                <a:moveTo>
                  <a:pt x="0" y="0"/>
                </a:moveTo>
                <a:lnTo>
                  <a:pt x="3423472" y="0"/>
                </a:lnTo>
                <a:lnTo>
                  <a:pt x="3423472" y="1125737"/>
                </a:lnTo>
                <a:lnTo>
                  <a:pt x="0" y="1125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6399" y="1252875"/>
            <a:ext cx="9517076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Transfer Functions</a:t>
            </a:r>
          </a:p>
          <a:p>
            <a:pPr algn="l">
              <a:lnSpc>
                <a:spcPts val="6719"/>
              </a:lnSpc>
            </a:pPr>
            <a:endParaRPr lang="en-US" sz="48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66399" y="6686079"/>
            <a:ext cx="9549057" cy="823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2"/>
              </a:lnSpc>
            </a:pPr>
            <a:r>
              <a:rPr lang="en-US" sz="481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Transmissibility: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166399" y="2879447"/>
          <a:ext cx="11650890" cy="7172327"/>
        </p:xfrm>
        <a:graphic>
          <a:graphicData uri="http://schemas.openxmlformats.org/drawingml/2006/table">
            <a:tbl>
              <a:tblPr/>
              <a:tblGrid>
                <a:gridCol w="580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19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parameter​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68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Ms​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2500 – 3250 kg​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368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 Mu​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300 kg​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368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  Ks​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250,000  -  400,000 N/m​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68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  Cs​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20,000 Ns/m​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368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   Kt​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800,000 N/m​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368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  Ct​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     2,000 Ns/m​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166399" y="1233825"/>
            <a:ext cx="1446279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Mathematical model implementation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399" y="2223928"/>
            <a:ext cx="4453204" cy="552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</a:t>
            </a:r>
            <a:r>
              <a:rPr lang="en-US" sz="29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stem parameter values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82233" y="1028700"/>
            <a:ext cx="10785562" cy="9167727"/>
          </a:xfrm>
          <a:custGeom>
            <a:avLst/>
            <a:gdLst/>
            <a:ahLst/>
            <a:cxnLst/>
            <a:rect l="l" t="t" r="r" b="b"/>
            <a:pathLst>
              <a:path w="10785562" h="9167727">
                <a:moveTo>
                  <a:pt x="0" y="0"/>
                </a:moveTo>
                <a:lnTo>
                  <a:pt x="10785562" y="0"/>
                </a:lnTo>
                <a:lnTo>
                  <a:pt x="10785562" y="9167727"/>
                </a:lnTo>
                <a:lnTo>
                  <a:pt x="0" y="9167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6399" y="1252875"/>
            <a:ext cx="7445029" cy="193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Road excitation :​</a:t>
            </a:r>
          </a:p>
          <a:p>
            <a:pPr algn="l">
              <a:lnSpc>
                <a:spcPts val="8959"/>
              </a:lnSpc>
            </a:pPr>
            <a:endParaRPr lang="en-US" sz="48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54052" y="2638445"/>
            <a:ext cx="6286777" cy="190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512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Bump : si</a:t>
            </a:r>
            <a:r>
              <a:rPr lang="en-US" sz="3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nusoidal, 0.05m amplitude, wavelength 5m </a:t>
            </a:r>
          </a:p>
          <a:p>
            <a:pPr marL="690881" lvl="1" indent="-345440" algn="l">
              <a:lnSpc>
                <a:spcPts val="5120"/>
              </a:lnSpc>
              <a:buAutoNum type="arabicPeriod"/>
            </a:pPr>
            <a:r>
              <a:rPr lang="en-US" sz="3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Random: ISO 8608 Class B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0829" y="569595"/>
            <a:ext cx="4833608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Random: ISO 8608 Class B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6399" y="9084945"/>
            <a:ext cx="614121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 :</a:t>
            </a: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https://www.extrica.com/article/20271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47062" y="2359680"/>
            <a:ext cx="7753195" cy="6112913"/>
          </a:xfrm>
          <a:custGeom>
            <a:avLst/>
            <a:gdLst/>
            <a:ahLst/>
            <a:cxnLst/>
            <a:rect l="l" t="t" r="r" b="b"/>
            <a:pathLst>
              <a:path w="7753195" h="6112913">
                <a:moveTo>
                  <a:pt x="0" y="0"/>
                </a:moveTo>
                <a:lnTo>
                  <a:pt x="7753195" y="0"/>
                </a:lnTo>
                <a:lnTo>
                  <a:pt x="7753195" y="6112913"/>
                </a:lnTo>
                <a:lnTo>
                  <a:pt x="0" y="6112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2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661193" y="2359680"/>
            <a:ext cx="8839511" cy="6112913"/>
          </a:xfrm>
          <a:custGeom>
            <a:avLst/>
            <a:gdLst/>
            <a:ahLst/>
            <a:cxnLst/>
            <a:rect l="l" t="t" r="r" b="b"/>
            <a:pathLst>
              <a:path w="8839511" h="6112913">
                <a:moveTo>
                  <a:pt x="0" y="0"/>
                </a:moveTo>
                <a:lnTo>
                  <a:pt x="8839511" y="0"/>
                </a:lnTo>
                <a:lnTo>
                  <a:pt x="8839511" y="6112913"/>
                </a:lnTo>
                <a:lnTo>
                  <a:pt x="0" y="6112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49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6399" y="1252875"/>
            <a:ext cx="915497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Performance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1929399"/>
            <a:ext cx="6252363" cy="8152306"/>
          </a:xfrm>
          <a:custGeom>
            <a:avLst/>
            <a:gdLst/>
            <a:ahLst/>
            <a:cxnLst/>
            <a:rect l="l" t="t" r="r" b="b"/>
            <a:pathLst>
              <a:path w="6252363" h="8152306">
                <a:moveTo>
                  <a:pt x="0" y="0"/>
                </a:moveTo>
                <a:lnTo>
                  <a:pt x="6252363" y="0"/>
                </a:lnTo>
                <a:lnTo>
                  <a:pt x="6252363" y="8152307"/>
                </a:lnTo>
                <a:lnTo>
                  <a:pt x="0" y="81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80777" y="1929399"/>
            <a:ext cx="6209518" cy="8152240"/>
          </a:xfrm>
          <a:custGeom>
            <a:avLst/>
            <a:gdLst/>
            <a:ahLst/>
            <a:cxnLst/>
            <a:rect l="l" t="t" r="r" b="b"/>
            <a:pathLst>
              <a:path w="6209518" h="8152240">
                <a:moveTo>
                  <a:pt x="0" y="0"/>
                </a:moveTo>
                <a:lnTo>
                  <a:pt x="6209519" y="0"/>
                </a:lnTo>
                <a:lnTo>
                  <a:pt x="6209519" y="8152240"/>
                </a:lnTo>
                <a:lnTo>
                  <a:pt x="0" y="8152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738" b="-42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09868" y="207645"/>
            <a:ext cx="1039916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MATLAB CODE​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9868" y="962025"/>
            <a:ext cx="10399168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Link to matlab code: ​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drive.google.com/file/d/1tLqO5NefZr00L9HyUYItyZSDnxJa9833/view?usp=drivesdk"/>
              </a:rPr>
              <a:t>https://drive.google.com/file/d/1tLqO5NefZr00L9HyUYItyZSDnxJa9833/view?usp=drivesdk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endParaRPr lang="en-US" sz="1800" u="sng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  <a:hlinkClick r:id="rId5" tooltip="https://drive.google.com/file/d/1tLqO5NefZr00L9HyUYItyZSDnxJa9833/view?usp=drivesd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1596" y="627473"/>
            <a:ext cx="7099312" cy="9133871"/>
          </a:xfrm>
          <a:custGeom>
            <a:avLst/>
            <a:gdLst/>
            <a:ahLst/>
            <a:cxnLst/>
            <a:rect l="l" t="t" r="r" b="b"/>
            <a:pathLst>
              <a:path w="7099312" h="9133871">
                <a:moveTo>
                  <a:pt x="0" y="0"/>
                </a:moveTo>
                <a:lnTo>
                  <a:pt x="7099312" y="0"/>
                </a:lnTo>
                <a:lnTo>
                  <a:pt x="7099312" y="9133871"/>
                </a:lnTo>
                <a:lnTo>
                  <a:pt x="0" y="9133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535934" y="627473"/>
            <a:ext cx="7452512" cy="9133871"/>
          </a:xfrm>
          <a:custGeom>
            <a:avLst/>
            <a:gdLst/>
            <a:ahLst/>
            <a:cxnLst/>
            <a:rect l="l" t="t" r="r" b="b"/>
            <a:pathLst>
              <a:path w="7452512" h="9133871">
                <a:moveTo>
                  <a:pt x="0" y="0"/>
                </a:moveTo>
                <a:lnTo>
                  <a:pt x="7452512" y="0"/>
                </a:lnTo>
                <a:lnTo>
                  <a:pt x="7452512" y="9133871"/>
                </a:lnTo>
                <a:lnTo>
                  <a:pt x="0" y="9133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6399" y="1028700"/>
            <a:ext cx="7746951" cy="4212264"/>
          </a:xfrm>
          <a:custGeom>
            <a:avLst/>
            <a:gdLst/>
            <a:ahLst/>
            <a:cxnLst/>
            <a:rect l="l" t="t" r="r" b="b"/>
            <a:pathLst>
              <a:path w="7746951" h="4212264">
                <a:moveTo>
                  <a:pt x="0" y="0"/>
                </a:moveTo>
                <a:lnTo>
                  <a:pt x="7746951" y="0"/>
                </a:lnTo>
                <a:lnTo>
                  <a:pt x="7746951" y="4212264"/>
                </a:lnTo>
                <a:lnTo>
                  <a:pt x="0" y="4212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07125" y="1028700"/>
            <a:ext cx="7614477" cy="4212264"/>
          </a:xfrm>
          <a:custGeom>
            <a:avLst/>
            <a:gdLst/>
            <a:ahLst/>
            <a:cxnLst/>
            <a:rect l="l" t="t" r="r" b="b"/>
            <a:pathLst>
              <a:path w="7614477" h="4212264">
                <a:moveTo>
                  <a:pt x="0" y="0"/>
                </a:moveTo>
                <a:lnTo>
                  <a:pt x="7614476" y="0"/>
                </a:lnTo>
                <a:lnTo>
                  <a:pt x="7614476" y="4212264"/>
                </a:lnTo>
                <a:lnTo>
                  <a:pt x="0" y="4212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66399" y="5777899"/>
            <a:ext cx="7700911" cy="4187230"/>
          </a:xfrm>
          <a:custGeom>
            <a:avLst/>
            <a:gdLst/>
            <a:ahLst/>
            <a:cxnLst/>
            <a:rect l="l" t="t" r="r" b="b"/>
            <a:pathLst>
              <a:path w="7700911" h="4187230">
                <a:moveTo>
                  <a:pt x="0" y="0"/>
                </a:moveTo>
                <a:lnTo>
                  <a:pt x="7700910" y="0"/>
                </a:lnTo>
                <a:lnTo>
                  <a:pt x="7700910" y="4187230"/>
                </a:lnTo>
                <a:lnTo>
                  <a:pt x="0" y="4187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463908" y="5777899"/>
            <a:ext cx="7700911" cy="4308843"/>
          </a:xfrm>
          <a:custGeom>
            <a:avLst/>
            <a:gdLst/>
            <a:ahLst/>
            <a:cxnLst/>
            <a:rect l="l" t="t" r="r" b="b"/>
            <a:pathLst>
              <a:path w="7700911" h="4308843">
                <a:moveTo>
                  <a:pt x="0" y="0"/>
                </a:moveTo>
                <a:lnTo>
                  <a:pt x="7700911" y="0"/>
                </a:lnTo>
                <a:lnTo>
                  <a:pt x="7700911" y="4308843"/>
                </a:lnTo>
                <a:lnTo>
                  <a:pt x="0" y="4308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6399" y="28186"/>
            <a:ext cx="382278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Plots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66399" y="2215701"/>
            <a:ext cx="12688992" cy="6964494"/>
          </a:xfrm>
          <a:custGeom>
            <a:avLst/>
            <a:gdLst/>
            <a:ahLst/>
            <a:cxnLst/>
            <a:rect l="l" t="t" r="r" b="b"/>
            <a:pathLst>
              <a:path w="12688992" h="6964494">
                <a:moveTo>
                  <a:pt x="0" y="0"/>
                </a:moveTo>
                <a:lnTo>
                  <a:pt x="12688991" y="0"/>
                </a:lnTo>
                <a:lnTo>
                  <a:pt x="12688991" y="6964494"/>
                </a:lnTo>
                <a:lnTo>
                  <a:pt x="0" y="6964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6399" y="933450"/>
            <a:ext cx="1049087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Random Road Surface plot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66399" y="2016780"/>
            <a:ext cx="6684203" cy="1743212"/>
          </a:xfrm>
          <a:custGeom>
            <a:avLst/>
            <a:gdLst/>
            <a:ahLst/>
            <a:cxnLst/>
            <a:rect l="l" t="t" r="r" b="b"/>
            <a:pathLst>
              <a:path w="6684203" h="1743212">
                <a:moveTo>
                  <a:pt x="0" y="0"/>
                </a:moveTo>
                <a:lnTo>
                  <a:pt x="6684202" y="0"/>
                </a:lnTo>
                <a:lnTo>
                  <a:pt x="6684202" y="1743212"/>
                </a:lnTo>
                <a:lnTo>
                  <a:pt x="0" y="174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84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6399" y="1081425"/>
            <a:ext cx="382278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399" y="4063898"/>
            <a:ext cx="382278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794390"/>
            <a:ext cx="17259300" cy="206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2-DOF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rt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er-bus mod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el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val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igh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ride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dynamics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for 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lect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ic bus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s.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​</a:t>
            </a:r>
          </a:p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Suspen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ion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tiffness/dam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ing t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ni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ng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 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ignificantly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i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pac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 co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fort a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 safe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​</a:t>
            </a:r>
          </a:p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Increased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unsprung mass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for in-wheel motors may requ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 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tiffer/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ac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tiv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susp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sions.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​</a:t>
            </a:r>
          </a:p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Futu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work: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 pitch/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ll (h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lf/full-bus), integrate fiel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data, s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la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 active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sus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ension st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ateg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ie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s.​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6399" y="6909575"/>
            <a:ext cx="382278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625855"/>
            <a:ext cx="17259300" cy="2592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eku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lić, D., et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al.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(2014). Eff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ects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of Suspen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ion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tiffness and Dam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ing o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 Bus R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ide Qual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ty. Inter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tio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nal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Journa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 of Vehi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cle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Systems</a:t>
            </a: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Modelling and Testing, 9(3), 209-225.</a:t>
            </a:r>
          </a:p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Long, X., et al. (2018). Dynamic Modeling and Ride Comfort Analysis of a Full Vehicle Bus Model. Journals of Vehicle Engineering and Technology, 2018(3), 45-59.​</a:t>
            </a:r>
          </a:p>
          <a:p>
            <a:pPr marL="561341" lvl="1" indent="-280670" algn="l">
              <a:lnSpc>
                <a:spcPts val="416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https://journals.sagepub.com/doi/10.1155/2014/269721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12982" y="2121859"/>
            <a:ext cx="11262036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6145" y="6293485"/>
            <a:ext cx="11262036" cy="278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Presented by :​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 . DEEPIKA (230103026)​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BHASKAR SONOWAL (230103027)​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BIBUNGSHA BORO (230103028)​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 . LIKITHA REDDY (230103029)​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843</Words>
  <Application>Microsoft Office PowerPoint</Application>
  <PresentationFormat>Custom</PresentationFormat>
  <Paragraphs>134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DM Serif Display</vt:lpstr>
      <vt:lpstr>Open Sauce</vt:lpstr>
      <vt:lpstr>Calibri</vt:lpstr>
      <vt:lpstr>Open Sauce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Monochromatic Simple The Minimalist Presentation Template</dc:title>
  <dc:creator>bhaskar sonowal</dc:creator>
  <cp:lastModifiedBy>bhaskar sonowal</cp:lastModifiedBy>
  <cp:revision>2</cp:revision>
  <dcterms:created xsi:type="dcterms:W3CDTF">2006-08-16T00:00:00Z</dcterms:created>
  <dcterms:modified xsi:type="dcterms:W3CDTF">2025-11-12T10:56:48Z</dcterms:modified>
  <dc:identifier>DAG4djVHCV0</dc:identifier>
</cp:coreProperties>
</file>